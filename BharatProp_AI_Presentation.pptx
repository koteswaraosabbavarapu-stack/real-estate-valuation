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PROPECH • MACHINE LEARNING • CONFORMAL PREDICTION</a:t>
            </a:r>
          </a:p>
          <a:p>
            <a:pPr>
              <a:spcBef>
                <a:spcPts val="1400"/>
              </a:spcBef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AI-Based Indian Real Estate Price Prediction</a:t>
            </a:r>
            <a:br/>
            <a:r>
              <a:t>&amp; Automated Property Valuation System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BharatProp AI — Automated Valuation Model (AVM) across 6 Major Metropolitan Cities</a:t>
            </a:r>
            <a:br/>
            <a:r>
              <a:t>Powered by XGBoost, 5-Fold Cross Validation, and Inductive Split Conformal Uncertainty Estimation.</a:t>
            </a:r>
          </a:p>
          <a:p>
            <a:br/>
            <a:pPr>
              <a:defRPr sz="1300" b="1">
                <a:solidFill>
                  <a:srgbClr val="10B981"/>
                </a:solidFill>
              </a:defRPr>
            </a:pPr>
            <a:r>
              <a:t>Live App: real-estate-valuation-kotesh.streamlit.app  •  Author: Koteswarao Sabbavarapu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BHARATPROP AI • INDIAN REAL ESTATE AVM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Summary &amp; Project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AUTHENTIC INDIAN DATA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Replaced foreign datasets with 27,614 verified residential properties across Mumbai, Bangalore, Delhi-NCR, Hyderabad, Chennai &amp; Kolkata.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4E3B"/>
                </a:solidFill>
              </a:defRPr>
            </a:pPr>
            <a:r>
              <a:t>PRODUCTION ML PIPELINE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Trained Ridge, Random Forest, GBR &amp; XGBoost with log-target transforms and continuous micro-market target encoding. Best Test MAE: ₹41.89 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CONFORMAL UNCERTAINTY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Eliminated naive ±RMSE errors. Built split conformal prediction intervals achieving exact 79.75% empirical coverage for nominal 80% confidence.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69848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233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🎯 Core Mission &amp;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 Eliminate Pricing Information Asymmetry: Provide transparent, algorithmic price discovery for Indian homebuyers, sellers, and lenders.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 100% Native Indian Rupee (₹) Denomination: Predict real property valuations in Lakhs &amp; Crores with ₹/sq.ft benchmarking.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 Interactive PropTech Web Platform: Deliver a full-featured Streamlit UI featuring single appraisal, market analytics, bulk CSV processing, and EMI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BHARATPROP AI • INDIAN REAL ESTATE AVM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Statement: Challenges in Indian Real Estate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❌ Traditional Valuation 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Subjective Broker Quotations: Manual appraisals rely on word-of-mouth broker inquiries, leading to 15%–30% quote inflation.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Extreme Price Skewness: Indian residential properties span from ₹20 Lakhs to ₹80+ Crores; linear models fail due to heavy right-tail variance.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The 'Ames / Foreign Data Fallacy': Legacy ML tutorials map US variables (snow porches, basements, Iowa zoning) to Indian cities, creating completely synthetic results.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✅ The BharatProp AI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Empirical Multi-City Ground Truth: Trained on 27,614 verified listings from Mumbai, Bangalore, Delhi, Hyderabad, Chennai, and Kolkata.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Domain-Specific Feature Engineering: Captures super built-up area, BHK configurations, 35 gated community amenities, and vaastu compliance.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Continuous Target Encoding: Learns micro-market price shrinkage for 1,711 localities without data leakage.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Calibrated Uncertainty Bounds: Delivers defensible, mathematically validated prediction ranges.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BHARATPROP AI • INDIAN REAL ESTATE AVM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Dataset Overview: 6 Metropolitan Economic Hubs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1645920"/>
                <a:gridCol w="1737360"/>
                <a:gridCol w="1737360"/>
                <a:gridCol w="173736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Metropolitan City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State / Region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Cleaned Properties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Median Price (₹)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Mean Area (sqft)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Median Rate (₹/sqft)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6,499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₹92.00 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995 sq ft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₹10,086/sq.ft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Delhi-NCR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Delhi / NCR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3,851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₹75.00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1,282 sq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₹6,945/sq.ft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Bangalore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5,364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₹73.61 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1,492 sq ft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₹5,400/sq.ft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1,993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₹78.75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1,667 sq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₹5,112/sq.ft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4,183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₹59.25 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1,221 sq ft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₹5,475/sq.ft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5,724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₹51.25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1,206 sq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₹4,555/sq.ft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8463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📋 Dataset Specifications &amp;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Total Verified Properties: 27,614 | Distinct Micro-Markets: 1,711 | Target Variable: Price in Indian Rupees (₹)</a:t>
            </a:r>
            <a:br/>
            <a:r>
              <a:t>• 35 Binary Amenities: Gymnasium, Swimming Pool, 24x7 Security, Power Backup, Lift, Piped Gas, Vaastu, Club House, AC, etc.</a:t>
            </a:r>
            <a:br/>
            <a:r>
              <a:t>• Source: Kaggle &amp; Open Indian Housing Repository | License: Open Access CC0 for academic &amp; production research.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BHARATPROP AI • INDIAN REAL ESTATE AVM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End-to-End Machine Learning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1. Data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Automated multi-city CSV download, deduplication &amp; outlier bounds (₹1.8k–48k/sqft).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2.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Calculate Area/BHK ratio, BHKxArea interaction, Furnishing, Security &amp; Amenity counts.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3.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ColumnTransformer with OneHot (City), continuous TargetEncoder (Location), RobustScaler.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4. Log-Target Regressor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TransformedTargetRegressor wraps models with log1p forward and expm1 inverse transforms.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3832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5. Multi-Model CV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72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5-Fold Cross Validation comparing Ridge, Random Forest, Gradient Boosting &amp; XGBoost.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931920"/>
            <a:ext cx="33832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6. Conformal Calibration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572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Empirical non-conformity quantile calculation on calibration fold (N = 4,143 properties).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BHARATPROP AI • INDIAN REAL ESTATE AVM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Domain Feature Engineering &amp; Leakage Prevention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🧠 Engineered Domain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Area_per_BHK: Built-up square footage divided by room count (indicates spatial roominess and luxury tier).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BHK_x_Area Interaction: Captures non-linear price scaling between spaciousness and bedroom density.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Furnishing_Score (0–9): Sum of verified home appliances (AC, TV, Refrigerator, Washing Machine, Microwave, etc.).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Security_Score (0–5): Composite index of 24x7 security, intercom, power backup, maintenance staff, and lifts.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Recreation_Score (0–9): Gated community lifestyle index (gym, pool, clubhouse, sports, gardens, golf course).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🛡️ ColumnTransformer &amp; Zero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Micro-Market Target Encoding: TargetEncoder(target_type='continuous', smooth='auto') fitted strictly on training folds to encode 1,711 localities.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City One-Hot Encoding: Unbiased binary categorical encoding across all 6 metropolitan hubs.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RobustScaler: Centers features using interquartile range (IQR) to prevent luxury mansions from distorting gradients.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No Target Leakage Guarantee: Derived price metrics (e.g. ₹/sq.ft) are calculated strictly after prediction and NEVER fed as input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BHARATPROP AI • INDIAN REAL ESTATE AVM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Regression Models &amp; Log-Target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🥇 XGBoost Regressor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Extreme gradient boosted decision trees with depth pruning (max_depth=6), colsample subsampling (0.85), learning rate 0.06, and 220 estimators. Best generalizer.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🥈 Gradient Boosting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Sequential additive decision trees with shrinkage rate 0.08 and 175 estimators. Strong baseline with lowest test RMSE.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521208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57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🥉 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69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Bagging ensemble of 150 de-correlated trees (max_depth=14) reducing variance across diverse property clusters.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474720"/>
            <a:ext cx="521208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657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4️⃣ Ridge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069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L2-regularized linear model (alpha=10.0) establishing linear baseline across encoded location priors.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463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💡 The Log-Target Transformation Principle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• Property prices are heavily right-skewed: fitting models on raw rupees leads squared errors to over-focus on multi-Crore luxury estates.</a:t>
            </a:r>
            <a:br/>
            <a:r>
              <a:t>• Wrapping models in TransformedTargetRegressor(func=log1p, inverse_func=expm1) minimizes relative proportional percentage errors across all housing tiers.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BHARATPROP AI • INDIAN REAL ESTATE AVM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Model Benchmarking &amp; Evaluation Leaderboard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371600"/>
                <a:gridCol w="1371600"/>
                <a:gridCol w="1371600"/>
                <a:gridCol w="1371600"/>
                <a:gridCol w="128016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Test MAE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Test RMSE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R² (Rupees)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R² (Log)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5-Fold CV R²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MAPE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4E3B"/>
                          </a:solidFill>
                        </a:defRPr>
                      </a:pPr>
                      <a:r>
                        <a:t>🥇 XGBoost Regressor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64E3B"/>
                          </a:solidFill>
                        </a:defRPr>
                      </a:pPr>
                      <a:r>
                        <a:t>₹41.89 L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64E3B"/>
                          </a:solidFill>
                        </a:defRPr>
                      </a:pPr>
                      <a:r>
                        <a:t>₹98.04 L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64E3B"/>
                          </a:solidFill>
                        </a:defRPr>
                      </a:pPr>
                      <a:r>
                        <a:t>0.3921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64E3B"/>
                          </a:solidFill>
                        </a:defRPr>
                      </a:pPr>
                      <a:r>
                        <a:t>0.4664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64E3B"/>
                          </a:solidFill>
                        </a:defRPr>
                      </a:pPr>
                      <a:r>
                        <a:t>0.4788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64E3B"/>
                          </a:solidFill>
                        </a:defRPr>
                      </a:pPr>
                      <a:r>
                        <a:t>41.71%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🥈 Gradient Boosting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₹42.02 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₹96.64 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0.4093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0.4655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0.4786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42.18%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🥉 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₹42.29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₹99.96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0.3680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0.4499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0.4643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42.69%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4️⃣ Ridge Regression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₹44.31 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₹102.01 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0.3419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0.4260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0.4418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44.81%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114800"/>
            <a:ext cx="106984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2976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📊 Key Diagnostic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Holdout Test Generalization: All metrics evaluated on N = 4,143 independent properties (15% split) unseen during training.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XGBoost Superiority: XGBoost achieved the lowest Test MAE (₹41.89 Lakhs) and lowest MAPE (41.71%) with consistent 5-fold CV stability (0.4788).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Understanding R²: R² is the coefficient of determination (explaining ~47% of logarithmic variance across 1,711 micro-markets); it is NOT a percentage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BHARATPROP AI • INDIAN REAL ESTATE AVM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Prediction Uncertainty: Split Conformal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❌ The Flaw of Naive ±RMSE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Falsely Assumes Constant Normal Errors: Real estate errors scale with property value (a ₹2 Cr house has wider absolute dollar error than a ₹30 L flat).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Produces Negative Valuations: For affordable properties, subtracting a fixed global RMSE can produce mathematically impossible negative lower bounds.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Zero Statistical Guarantee: ±RMSE does not guarantee 80% or 95% coverage on real-world test distributions.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✅ The Conformal Prediction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Inductive Split Calibration: Non-conformity scores s_i = |log(y_i) - log(y_hat_i)| calculated on N = 4,143 validation properties.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Exact 80% Empirical Coverage: Test set empirical coverage on unseen properties is 79.75% (matching 80% nominal target).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Multiplicative Prediction Ranges: Yields intuitive asymmetric ranges [y_hat * exp(-q), y_hat * exp(+q)] preventing negative prices.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Honest UI Labeling: Presented explicitly as a 'Prediction Range / Interval', NOT a confidence interval.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BHARATPROP AI • INDIAN REAL ESTATE AVM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Interactive Web Application (Streamlit)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🏠 1. Overview &amp;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Project background, Indian market dynamics, pipeline architecture diagram, and data summaries.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🎯 2. Property 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Real-time appraisal with dynamic city/locality dropdowns, preset selectors, ₹/sq.ft rates &amp; 80% conformal range.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📊 3. Model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Leaderboard table, diagnostic plots (Actual vs Pred, Residuals, Bar Charts) &amp; metric explanations.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📈 4. Market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Interactive multi-city pricing histograms, Area vs Price scatter plots, BHK boxplots, and top locality rankings.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3832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📁 5. Bulk CSV 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72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Batch portfolio appraisal via CSV upload with schema validation and downloadable result CSVs.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931920"/>
            <a:ext cx="33832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💰 6. Home Loan EMI Planner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572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Down payment slider, LTV calculation, interest vs principal pie chart, and 10-year amortization schedule.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BHARATPROP AI • INDIAN REAL ESTATE AVM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Real-World Applications &amp; Industry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4E3B"/>
                </a:solidFill>
              </a:defRPr>
            </a:pPr>
            <a:r>
              <a:t>👨‍👩‍👧 Homebuyers &amp; Sellers: </a:t>
            </a:r>
            <a:r>
              <a:rPr sz="1300" b="0">
                <a:solidFill>
                  <a:srgbClr val="0F172A"/>
                </a:solidFill>
              </a:rPr>
              <a:t>Instant fair-market benchmark protecting buyers from broker quote inflation and providing negotiation leverage.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3288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4E3B"/>
                </a:solidFill>
              </a:defRPr>
            </a:pPr>
            <a:r>
              <a:t>🏦 Banks &amp; Housing Finance (HFCs): </a:t>
            </a:r>
            <a:r>
              <a:rPr sz="1300" b="0">
                <a:solidFill>
                  <a:srgbClr val="0F172A"/>
                </a:solidFill>
              </a:rPr>
              <a:t>Instant collateral pre-screening for home loan underwriting to verify statutory 75%–80% Loan-to-Value (LTV) limits.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9300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4E3B"/>
                </a:solidFill>
              </a:defRPr>
            </a:pPr>
            <a:r>
              <a:t>📱 PropTech Portals (e.g. 99acres): </a:t>
            </a:r>
            <a:r>
              <a:rPr sz="1300" b="0">
                <a:solidFill>
                  <a:srgbClr val="0F172A"/>
                </a:solidFill>
              </a:rPr>
              <a:t>Powers automated 'Instant Price Estimate' badges and guides sellers on optimal listing pricing.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5312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4E3B"/>
                </a:solidFill>
              </a:defRPr>
            </a:pPr>
            <a:r>
              <a:t>📊 Real Estate Funds &amp; REITs: </a:t>
            </a:r>
            <a:r>
              <a:rPr sz="1300" b="0">
                <a:solidFill>
                  <a:srgbClr val="0F172A"/>
                </a:solidFill>
              </a:rPr>
              <a:t>Bulk portfolio stress-testing via CSV batch evaluation during quarterly asset audits and acquisitions.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1324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4E3B"/>
                </a:solidFill>
              </a:defRPr>
            </a:pPr>
            <a:r>
              <a:t>🏗️ Real Estate Developers: </a:t>
            </a:r>
            <a:r>
              <a:rPr sz="1300" b="0">
                <a:solidFill>
                  <a:srgbClr val="0F172A"/>
                </a:solidFill>
              </a:rPr>
              <a:t>Data-driven pricing for new residential launches by quantifying specific amenity valuation premiums.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BHARATPROP AI • INDIAN REAL ESTATE AVM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Limitations &amp; Professional Disclaimer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⚠️ Technical &amp; Market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Asking vs Transaction Price Gap: Data reflects asking/listing prices; actual negotiated transaction prices may be 5%–15% lower.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Unobserved Micro-Location Factors: Tabular models cannot observe floor-rise premiums, corner plots, ocean views, or builder brand prestige.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Market Dynamics &amp; Inflation: Historical listing data does not automatically factor sudden interest rate or municipal tax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⚖️ Official Professional Disclaimer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1C1C"/>
                </a:solidFill>
              </a:defRPr>
            </a:pPr>
            <a:r>
              <a:t>STATISTICAL ESTIMATE ONLY</a:t>
            </a:r>
            <a:br/>
            <a:br/>
          </a:p>
          <a:p>
            <a:pPr>
              <a:defRPr sz="1250">
                <a:solidFill>
                  <a:srgbClr val="0F172A"/>
                </a:solidFill>
              </a:defRPr>
            </a:pPr>
            <a:r>
              <a:t>The valuations and prediction intervals generated by BharatProp AI are automated statistical approximations intended solely for informational, research, and educational purposes.</a:t>
            </a:r>
            <a:br/>
            <a:br/>
            <a:r>
              <a:t>They do NOT constitute certified legal appraisals under RICS / Government guidelines, title search opinions, banking mortgage approvals, or tax advice. Users should consult licensed property evaluators prior to executing transactions.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BHARATPROP AI • INDIAN REAL ESTATE AVM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Future Innovations &amp; Product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🛰️ Geospatial &amp; Satellite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Integrate OpenStreetMap and GIS coordinates for distance-to-metro, proximity to IT corridors, and green space ratios.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📷 Computer Vision Image 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Train multi-modal CNN/Vision Transformers on property floor plans and interior photos to estimate furnishing wear &amp; tear.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233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📜 RERA &amp; Land Registry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Connect with state RERA and Sub-Registrar transaction portals to blend asking prices with actual registered circle rates.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1069848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2120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🌐 RESTful Microservice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Deploy a FastAPI backend to integrate real-time property valuation endpoints into external fintech and banking apps.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THANK YOU &amp; QUESTIONS</a:t>
            </a:r>
          </a:p>
          <a:p>
            <a:pPr>
              <a:spcBef>
                <a:spcPts val="1000"/>
              </a:spcBef>
              <a:defRPr sz="3000" b="1">
                <a:solidFill>
                  <a:srgbClr val="FFFFFF"/>
                </a:solidFill>
              </a:defRPr>
            </a:pPr>
            <a:r>
              <a:t>BharatProp AI: Indian PropTech Innovation</a:t>
            </a:r>
          </a:p>
          <a:p>
            <a:pPr>
              <a:spcBef>
                <a:spcPts val="1000"/>
              </a:spcBef>
              <a:spcAft>
                <a:spcPts val="2000"/>
              </a:spcAft>
              <a:defRPr sz="1600">
                <a:solidFill>
                  <a:srgbClr val="CBD5E1"/>
                </a:solidFill>
              </a:defRPr>
            </a:pPr>
            <a:r>
              <a:t>A complete, transparent, and mathematically rigorous Automated Valuation Model engineered for the Indian residential housing market.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🌐 Live Streamlit Application:  https://real-estate-valuation-kotesh.streamlit.app/</a:t>
            </a:r>
            <a:br/>
            <a:r>
              <a:t>💻 GitHub Source Repository:    https://github.com/koteswaraosabbavarapu-stack/Real-Estate-Valuation</a:t>
            </a:r>
            <a:br/>
            <a:r>
              <a:t>👤 Project Author:             Koteswarao Sabbavarapu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